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Dr. Alan Mitchell, and I'm delighted to have you here for this introductory course on investing on the Australian Securities Exchange — the ASX. Whether you've never bought a share in your life or you've dabbled a little and want a stronger foundation, you're in the right place.
Our goal for this course is simple but powerful: to build your confidence so you can take those first real steps toward investing on the ASX. By the end, you'll understand how the market works, know the key terminology, be able to evaluate different investment types, apply basic analysis, manage risk, and actually place your first trade.
Let's look at what we'll cover together. We'll start by understanding what the ASX actually is and how it fits into the global financial system. Then we'll learn the essential vocabulary — terms like CHESS, market cap, and franking credits. We'll explore the main investment types available: shares, ETFs, LICs, bonds, and more. We'll practice building a sample portfolio, compare fundamental and technical analysis, dive into risk management essentials, touch on tax considerations unique to Australian investors, and walk through a step-by-step guide to getting started. No prior investing experience is required — just curiosity and a willingness to learn.
Before we go further, I need to highlight an important disclaimer: this presentation is for educational purposes only and does not constitute financial advice. The examples and concepts we discuss are designed to teach you how to think about investing, not to recommend specific products or actions. Always consider your personal circumstances and, where appropriate, consult a licensed financial adviser before making investment decisions.
Alright, let's get started! In our next section, we'll dive into what the ASX actually is — its history, structure, and role in the Australian economy. Sarah will also be on hand throughout the course with supplementary materials and to guide us through the interactive exercises. Let's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our first core topic: What Is the ASX?
As you can see here, the ASX stands for Australian Securities Exchange, and it serves as Australia's primary stock exchange.
Let me walk you through some key facts. First, the ASX operates not just as a market operator, but also as a clearer and settlement system through what's called CHESS — the Clearing House Electronic Subregister System.
There are over 2,200 listed companies on the ASX with a combined market capitalization of about 2.5 trillion Australian dollars as of 2024.
Trading hours run from 10:00 AM to 4:00 PM Australian Eastern Time, Monday through Friday.
And importantly, the exchange is regulated by ASIC — the Australian Securities and Investments Commission — which oversees market integrity and investor protection.
We'll be referring to the ASX throughout this course, so keep these fundamentals in mind as we move forward to key terminology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what we just covered about the ASX itself, let's now dive into the essential vocabulary you'll use every day as an investor. Understanding these terms is like learning the language of the market — once you're fluent, everything else becomes much clearer.
First up: ticker codes. These are the three-letter shorthand used to identify every company on the ASX. For example, CBA is Commonwealth Bank, BHP is BHP Group, and TLS is Telstra. When you place a trade or look up a quote, you'll use the ticker — not the full company name. Think of it as the stock's nickname.
Next is CHESS — the Clearing House Electronic Subregister System. This is the backbone of share ownership in Australia. When you buy shares, CHESS records your holding electronically. There are no paper certificates anymore; CHESS is the official register that proves you own those shares. It also handles settlement — the exchange of shares for cash — usually two business days after the trade, known as T+2.
Now, an important distinction: HIN versus SRN. A HIN, or Holder Identification Number, is assigned when you hold shares through a broker — like CommSec or SelfWealth. All your holdings across different companies sit under one HIN. An SRN, or Securityholder Reference Number, is used when you hold shares directly with the company's share registry — for instance, if you received shares via an employee plan or inheritance. Each company gives you a separate SRN. Most retail investors use a HIN because it keeps everything in one place.
Let's talk market metrics. Market cap — short for market capitalization — is the total value of a company's outstanding shares: share price times number of shares. It tells you the company's size. Volume is how many shares trade in a given period — high volume means high liquidity. The bid/ask spread is the gap between the highest price a buyer will pay and the lowest a seller will accept; tighter spreads mean lower transaction costs. And dividend yield is the annual dividend per share divided by the share price, expressed as a percentage — a key metric for income-focused investors.
One uniquely Australian concept: franking credits. When an Australian company pays tax on its profits and then distributes dividends, it can attach franking credits — essentially a tax credit for the tax the company already paid. If your marginal tax rate is lower than the company tax rate (30% for large companies), you may even get a refund. This makes Australian dividends especially attractive for retirees and low-income investors. We'll explore this in more detail in our tax session later.
Finally, three common investment structures you'll encounter: ETFs — Exchange Traded Funds — which track an index or theme and trade like a share; LICs — Listed Investment Companies — which are closed-end funds with a fixed number of shares, often actively managed; and REITs — Real Estate Investment Trusts — which give you exposure to property portfolios. Each has different tax implications, fee structures, and liquidity profiles, so it's worth understanding the differences before you invest.
That covers the core terminology. You now speak the language of the ASX. Next, we'll look at the different types of investments available on the exchange — from shares and ETFs to bonds and hybrids — so you can start thinking about what might fit your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the different types of investments you can actually buy and sell on the ASX. We just covered what the exchange is and some key terminology — so now we'll look at the building blocks you'll use to construct a portfolio.
There are six main asset classes and vehicles available on the Australian Securities Exchange. Some are straightforward, like owning a slice of a single company. Others give you instant diversification or exposure to property, fixed income, or even advanced strategies. We'll walk through each one.
First up: individual shares, also called ordinary shares. When you buy shares in a company like BHP or Commonwealth Bank, you become a part-owner of that business. You may receive dividends — a share of the profits — and you have voting rights at shareholder meetings. This is the most direct way to invest, but it also concentrates your risk in one company.
Next are ETFs — Exchange Traded Funds. These are baskets of securities that track an index, sector, or theme. For example, an ASX 200 ETF gives you exposure to the top 200 companies in a single trade. ETFs trade like shares during market hours, offer instant diversification, and typically have low management fees. They're a popular starting point for many investors.
Then we have LICs — Listed Investment Companies. These are closed-end funds, meaning they issue a fixed number of shares that trade on the ASX. A professional manager actively selects the underlying investments, aiming to outperform the market. Unlike ETFs, LICs can trade at a premium or discount to their net asset value, and they often pay out franked dividends — which can be tax-effective for Australian investors.
REITs — Real Estate Investment Trusts — give you exposure to property without buying physical real estate. They own and operate income-producing assets like shopping centres, office buildings, or industrial parks. REITs must distribute most of their taxable income to shareholders, so they're often sought after for yield. Keep in mind they can be sensitive to interest rate changes.
Bonds and hybrids sit on the fixed-income side. Government and corporate bonds pay regular interest and return principal at maturity — they're generally lower risk than shares. Hybrids combine features of both bonds and shares: they pay fixed or floating distributions but rank below bonds in a liquidation. They can offer higher yields but come with more complexity and risk.
Finally, a quick mention of warrants, options, and mFunds. These are more advanced instruments — warrants and options are derivatives that give you leveraged exposure or hedging capabilities, while mFunds are unlisted managed funds you can buy and sell via the ASX settlement system. We won't go deep on these today, but it's good to know they exist as you progress.
So that's the toolkit: individual shares for concentrated bets, ETFs and LICs for diversified or active exposure, REITs for property income, bonds and hybrids for stability, and advanced instruments for specific strategies. In the next session, we'll put these pieces together and build a sample portfolio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built a sample portfolio, let's talk about how to evaluate the investments inside it. There are two main schools of thought when analyzing ASX stocks — fundamental analysis and technical analysis.
Fundamental analysis looks at the business itself — its financial health, earnings, competitive advantage or 'moat', dividend history, and valuation ratios. It answers the question: is this a quality company worth owning for the long term?
Key metrics you'll want to check include earnings per share (EPS), the price-to-earnings or P/E ratio, return on equity (ROE), debt-to-equity, dividend yield, and the franking level — which tells you how much of the dividend comes with tax credits already paid by the company.
Technical analysis, on the other hand, focuses purely on price charts, trends, volume, and support and resistance levels. It's more about timing — when to enter or exit — rather than what the business is worth. Traders often use this approach, while most long-term ASX investors lean on fundamentals.
Where do you find all this data? The ASX website and company announcements are your primary sources. Broker research reports, financial news sites, and your trading platform's research tools are also valuable. Always cross-check — don't rely on a single source.
To recap: fundamental analysis helps you pick quality companies for the long haul; technical analysis can help with timing. Most Australian investors combine both — fundamentals for selection, technicals for entry. Next, we'll look at how to manage risk once you've made your picks.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just covered, combining fundamental and technical analysis helps us pick stocks. But once we've made our picks, we need to manage risk. That's what this session is about — protecting your capital on the ASX.
First, diversification. Don't put all your eggs in one basket. Spread your investments across different sectors — like financials, materials, healthcare — across company sizes, from large-caps to small-caps, and even across geographies and asset types. A diversified portfolio reduces the impact of any single holding performing poorly.
Next, position sizing. A common rule is to risk no more than 1 to 5 percent of your total capital on any single position. That way, even if a trade goes against you, it won't devastate your portfolio. Think of it as setting a budget for each investment.
Stop-loss discipline versus a long-term mindset. A stop-loss is a predetermined exit price that limits your loss on a trade. It's a tool for traders. Long-term investors, on the other hand, might hold through volatility if the thesis remains intact. The key is to decide your approach before you buy and stick to it — no emotional decisions.
You also need to understand the different types of risk: market risk affects the whole market, sector risk hits a specific industry, company-specific risk is unique to one business, and liquidity risk means you might not be able to sell easily without moving the price. Knowing these helps you choose investments that match your risk tolerance. And remember the Franklin Templeton 'sleep test' — if a holding keeps you awake at night, it's too large for your comfort. Finally, review your portfolio quarterly or semi-annually to rebalance and ensure it still aligns with your goals. Next, we'll look at tax considerations for Australian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risk management principles we just covered, let's now turn to an area that can significantly impact your net returns: tax considerations for Australian investors.
This slide outlines the key tax concepts that affect ASX investment returns. Understanding these can help you keep more of what you earn.
First, Capital Gains Tax. If you hold an asset for more than 12 months, you're eligible for a 50 percent CGT discount. That means only half the capital gain is added to your assessable income. This is a powerful incentive for long-term investing.
Next, dividend imputation and franking credits. Australia's imputation system prevents double taxation of company profits. When a company pays tax on its earnings and distributes dividends, those dividends come with franking credits. You can use these credits to offset your own tax liability, and in some cases even receive a refund.
Third, superannuation. Investing through a self-managed super fund or an industry super fund offers tax advantages. Earnings in accumulation phase are taxed at a maximum of 15 percent, and capital gains on assets held over 12 months receive a one-third discount. In pension phase, earnings can be tax-free.
Now let's look at practical record keeping. You need to track buy and sell dates, purchase and sale prices, brokerage fees, and any corporate actions like share splits or dividend reinvestment plans. Good records make tax time straightforward and ensure you claim every entitlement.
The ATO now receives pre-fill data directly from brokers, which populates your tax return automatically. It's convenient, but always verify the accuracy. Brokers can make mistakes, and you're ultimately responsible for what's lodged.
Finally, a crucial reminder: tax is personal. Your marginal tax rate, residency status, and individual circumstances all affect the outcome. Always seek qualified tax advice tailored to your situation before making significant investment decisions.
To recap: hold assets longer than 12 months for the CGT discount, leverage franking credits from dividends, consider superannuation for tax-advantaged investing, keep meticulous records, verify ATO pre-fill data, and consult a tax professional for personal advice. Next, we'll walk through the step-by-step process of getting started with ASX investing.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just covered the tax side of things, let's now walk through the practical steps to actually get started investing on the ASX — from opening your first account to placing that first trade and managing it over time.
Step one: choose a broker. This is your gateway to the market. Compare brokerage fees — some charge per trade, others have tiered pricing. Watch for foreign exchange fees if you'll buy international stocks, and custody fees for holding assets. Also evaluate the platform's usability, research tools, and whether they offer CHESS-sponsored or custodian model holdings.
Step two: pick the right account type. For most beginners, an individual account is simplest. Joint accounts suit couples, while company, trust, or SMSF structures are for more advanced setups — each has different tax and legal implications we touched on earlier.
Step three: identity verification. Australia uses a 100-point check — typically your driver's licence and passport get you there. You'll also provide your TFN or ABN; without it, tax is withheld at the highest marginal rate, so definitely supply it.
Step four: fund your account. Bank transfer and BPAY are the most common for domestic investors. International transfers work too but watch for fees and processing times — funds need to clear before you can trade.
Step five: place your first trade. A market order executes immediately at the best available price — good for liquid stocks. A limit order lets you set your maximum buy or minimum sell price, giving you control. Remember settlement is T+2: the trade date plus two business days. You'll get a CHESS holding statement confirming ownership.
Step six is ongoing management. Monitor your portfolio, consider enrolling in a dividend reinvestment plan (DRP) to compound returns automatically, and periodically review your strategy — especially after major life changes or market shifts. That's the full cycle from zero to active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a lot of ground together — from understanding what the ASX is, through key terminology, investment types, portfolio building, analysis methods, risk management, tax considerations, and a practical step-by-step guide to getting started. Now, let's look at where you can go from here.
First, let's talk about resources for continued learning. For reading, I highly recommend 'The Barefoot Investor' by Scott Pape — it's a fantastic, practical guide tailored to Australian investors. The ASX Education Centre offers free courses and webinars, and Morningstar Australia provides excellent research and analysis on ASX-listed companies. All three are linked in your course materials.
On the tools side, the ASX website itself has a wealth of data — company announcements, price charts, and educational articles. For practice without risk, you can open demo accounts with CommSec, NABtrade, or Stake. And Yahoo Finance Australia is a great free resource for charting and fundamental data. Bookmark these — you'll use them often.
Community matters too. The ASX Investor Hub runs events and forums. Reddit's r/ASX_Bets can be entertaining but take it with a grain of salt — it's high-risk, high-noise. Whirlpool forums have some very knowledgeable long-term investors sharing insights. Engage, ask questions, but always do your own research.
Now, advanced topics to explore when you're ready. Options and CFDs offer leverage and hedging strategies, but they come with significantly higher risk — only venture there after you're comfortable with the basics. International markets let you diversify beyond Australia, and SMSF investing opens up tax-advantaged structures for retirement. Each of these could be a course on its own.
Let me leave you with four guiding principles we've reinforced throughout this course: Start small — you don't need thousands to begin. Stay diversified — don't put all your eggs in one basket. Think long-term — compounding works its magic over years, not days. And keep learning — the market evolves, and so should you.
Congratulations on completing ASX Investing Basics! You now have the foundational knowledge to open a brokerage account, research companies, build a diversified portfolio, manage risk, and understand the tax implications. That's a genuine achievement. Thank you for learning with me — I wish you every success on your investing journey. Happy investing,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592" b="1" dirty="0">
                <a:solidFill>
                  <a:srgbClr val="333333"/>
                </a:solidFill>
                <a:latin typeface="Microsoft YaHei" pitchFamily="34" charset="0"/>
                <a:ea typeface="Microsoft YaHei" pitchFamily="34" charset="-122"/>
                <a:cs typeface="Microsoft YaHei" pitchFamily="34" charset="-120"/>
              </a:rPr>
              <a:t>Welcome &amp; Course Overview</a:t>
            </a:r>
            <a:endParaRPr lang="en-US" sz="1152" dirty="0"/>
          </a:p>
        </p:txBody>
      </p:sp>
      <p:sp>
        <p:nvSpPr>
          <p:cNvPr id="4" name="Text 1"/>
          <p:cNvSpPr/>
          <p:nvPr/>
        </p:nvSpPr>
        <p:spPr>
          <a:xfrm>
            <a:off x="548640" y="1472184"/>
            <a:ext cx="80467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333333"/>
                </a:solidFill>
                <a:latin typeface="Microsoft YaHei" pitchFamily="34" charset="0"/>
                <a:ea typeface="Microsoft YaHei" pitchFamily="34" charset="-122"/>
                <a:cs typeface="Microsoft YaHei" pitchFamily="34" charset="-120"/>
              </a:rPr>
              <a:t>Build confidence to start investing on the ASX</a:t>
            </a:r>
            <a:endParaRPr lang="en-US" sz="1152" dirty="0"/>
          </a:p>
        </p:txBody>
      </p:sp>
      <p:sp>
        <p:nvSpPr>
          <p:cNvPr id="5" name="Text 2"/>
          <p:cNvSpPr/>
          <p:nvPr/>
        </p:nvSpPr>
        <p:spPr>
          <a:xfrm>
            <a:off x="548640" y="2276856"/>
            <a:ext cx="804672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What you'll learn: ASX structure, investment types, basic analysis, risk management, first steps</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No prior investing experience required</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Disclaimer: Educational content, not financial advice</a:t>
            </a:r>
            <a:endParaRPr lang="en-US" sz="1152" dirty="0"/>
          </a:p>
        </p:txBody>
      </p:sp>
      <p:sp>
        <p:nvSpPr>
          <p:cNvPr id="6" name="Text 3"/>
          <p:cNvSpPr/>
          <p:nvPr/>
        </p:nvSpPr>
        <p:spPr>
          <a:xfrm>
            <a:off x="548640" y="4297680"/>
            <a:ext cx="8046720" cy="39319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888888"/>
                </a:solidFill>
                <a:latin typeface="Microsoft YaHei" pitchFamily="34" charset="0"/>
                <a:ea typeface="Microsoft YaHei" pitchFamily="34" charset="-122"/>
                <a:cs typeface="Microsoft YaHei" pitchFamily="34" charset="-120"/>
              </a:rPr>
              <a:t>This presentation is for educational purposes only and does not constitute financial advice.</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What Is the ASX?</a:t>
            </a:r>
            <a:endParaRPr lang="en-US" sz="1152" dirty="0"/>
          </a:p>
        </p:txBody>
      </p:sp>
      <p:sp>
        <p:nvSpPr>
          <p:cNvPr id="4" name="Text 1"/>
          <p:cNvSpPr/>
          <p:nvPr/>
        </p:nvSpPr>
        <p:spPr>
          <a:xfrm>
            <a:off x="548640" y="1188720"/>
            <a:ext cx="80467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dirty="0">
                <a:solidFill>
                  <a:srgbClr val="555555"/>
                </a:solidFill>
                <a:latin typeface="Microsoft YaHei" pitchFamily="34" charset="0"/>
                <a:ea typeface="Microsoft YaHei" pitchFamily="34" charset="-122"/>
                <a:cs typeface="Microsoft YaHei" pitchFamily="34" charset="-120"/>
              </a:rPr>
              <a:t>Australia's Primary Stock Exchange</a:t>
            </a:r>
            <a:endParaRPr lang="en-US" sz="1152" dirty="0"/>
          </a:p>
        </p:txBody>
      </p:sp>
      <p:sp>
        <p:nvSpPr>
          <p:cNvPr id="5" name="Text 2"/>
          <p:cNvSpPr/>
          <p:nvPr/>
        </p:nvSpPr>
        <p:spPr>
          <a:xfrm>
            <a:off x="548640" y="1901952"/>
            <a:ext cx="804672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ASX: Australian Securities Exchange, primary stock exchange</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Market operator, clearer, settlement via CHESS</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2,200+ listed companies, ~$2.5T market cap (2024)</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Trading: 10am–4pm AEST/AEDT, Mon–Fri</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Regulated by ASIC</a:t>
            </a:r>
            <a:endParaRPr lang="en-US" sz="115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Key ASX Terminology</a:t>
            </a:r>
            <a:endParaRPr lang="en-US" sz="1152" dirty="0"/>
          </a:p>
        </p:txBody>
      </p:sp>
      <p:sp>
        <p:nvSpPr>
          <p:cNvPr id="4" name="Shape 1"/>
          <p:cNvSpPr/>
          <p:nvPr/>
        </p:nvSpPr>
        <p:spPr>
          <a:xfrm>
            <a:off x="640080" y="1243584"/>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48640" y="1645920"/>
            <a:ext cx="2377440" cy="1097280"/>
          </a:xfrm>
          <a:custGeom>
            <a:avLst/>
            <a:gdLst/>
            <a:ahLst/>
            <a:cxnLst/>
            <a:rect l="l" t="t" r="r" b="b"/>
            <a:pathLst>
              <a:path w="2377440" h="1097280">
                <a:moveTo>
                  <a:pt x="0" y="0"/>
                </a:moveTo>
                <a:lnTo>
                  <a:pt x="2377440" y="0"/>
                </a:lnTo>
                <a:lnTo>
                  <a:pt x="2377440" y="1097280"/>
                </a:lnTo>
                <a:lnTo>
                  <a:pt x="0" y="1097280"/>
                </a:lnTo>
                <a:close/>
              </a:path>
            </a:pathLst>
          </a:custGeom>
          <a:solidFill>
            <a:srgbClr val="E8F4FD"/>
          </a:solidFill>
          <a:ln/>
        </p:spPr>
      </p:sp>
      <p:sp>
        <p:nvSpPr>
          <p:cNvPr id="6" name="Text 3"/>
          <p:cNvSpPr/>
          <p:nvPr/>
        </p:nvSpPr>
        <p:spPr>
          <a:xfrm>
            <a:off x="731520" y="1728216"/>
            <a:ext cx="20116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Ticker Code</a:t>
            </a:r>
            <a:endParaRPr lang="en-US" sz="1152" dirty="0"/>
          </a:p>
          <a:p>
            <a:pP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3-letter identifier (e.g., CBA, BHP, TLS)</a:t>
            </a:r>
            <a:endParaRPr lang="en-US" sz="1152" dirty="0"/>
          </a:p>
        </p:txBody>
      </p:sp>
      <p:sp>
        <p:nvSpPr>
          <p:cNvPr id="7" name="Shape 4"/>
          <p:cNvSpPr/>
          <p:nvPr/>
        </p:nvSpPr>
        <p:spPr>
          <a:xfrm>
            <a:off x="3200400" y="1645920"/>
            <a:ext cx="2377440" cy="1097280"/>
          </a:xfrm>
          <a:custGeom>
            <a:avLst/>
            <a:gdLst/>
            <a:ahLst/>
            <a:cxnLst/>
            <a:rect l="l" t="t" r="r" b="b"/>
            <a:pathLst>
              <a:path w="2377440" h="1097280">
                <a:moveTo>
                  <a:pt x="0" y="0"/>
                </a:moveTo>
                <a:lnTo>
                  <a:pt x="2377440" y="0"/>
                </a:lnTo>
                <a:lnTo>
                  <a:pt x="2377440" y="1097280"/>
                </a:lnTo>
                <a:lnTo>
                  <a:pt x="0" y="1097280"/>
                </a:lnTo>
                <a:close/>
              </a:path>
            </a:pathLst>
          </a:custGeom>
          <a:solidFill>
            <a:srgbClr val="DCFCE7"/>
          </a:solidFill>
          <a:ln/>
        </p:spPr>
      </p:sp>
      <p:sp>
        <p:nvSpPr>
          <p:cNvPr id="8" name="Text 5"/>
          <p:cNvSpPr/>
          <p:nvPr/>
        </p:nvSpPr>
        <p:spPr>
          <a:xfrm>
            <a:off x="3383280" y="1728216"/>
            <a:ext cx="20116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CHESS</a:t>
            </a:r>
            <a:endParaRPr lang="en-US" sz="1152" dirty="0"/>
          </a:p>
          <a:p>
            <a:pP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Clearing House Electronic Subregister System — holds your shares electronically</a:t>
            </a:r>
            <a:endParaRPr lang="en-US" sz="1152" dirty="0"/>
          </a:p>
        </p:txBody>
      </p:sp>
      <p:sp>
        <p:nvSpPr>
          <p:cNvPr id="9" name="Shape 6"/>
          <p:cNvSpPr/>
          <p:nvPr/>
        </p:nvSpPr>
        <p:spPr>
          <a:xfrm>
            <a:off x="5852160" y="1645920"/>
            <a:ext cx="2377440" cy="1097280"/>
          </a:xfrm>
          <a:custGeom>
            <a:avLst/>
            <a:gdLst/>
            <a:ahLst/>
            <a:cxnLst/>
            <a:rect l="l" t="t" r="r" b="b"/>
            <a:pathLst>
              <a:path w="2377440" h="1097280">
                <a:moveTo>
                  <a:pt x="0" y="0"/>
                </a:moveTo>
                <a:lnTo>
                  <a:pt x="2377440" y="0"/>
                </a:lnTo>
                <a:lnTo>
                  <a:pt x="2377440" y="1097280"/>
                </a:lnTo>
                <a:lnTo>
                  <a:pt x="0" y="1097280"/>
                </a:lnTo>
                <a:close/>
              </a:path>
            </a:pathLst>
          </a:custGeom>
          <a:solidFill>
            <a:srgbClr val="FEF3C7"/>
          </a:solidFill>
          <a:ln/>
        </p:spPr>
      </p:sp>
      <p:sp>
        <p:nvSpPr>
          <p:cNvPr id="10" name="Text 7"/>
          <p:cNvSpPr/>
          <p:nvPr/>
        </p:nvSpPr>
        <p:spPr>
          <a:xfrm>
            <a:off x="6035040" y="1728216"/>
            <a:ext cx="20116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92400E"/>
                </a:solidFill>
                <a:latin typeface="Microsoft YaHei" pitchFamily="34" charset="0"/>
                <a:ea typeface="Microsoft YaHei" pitchFamily="34" charset="-122"/>
                <a:cs typeface="Microsoft YaHei" pitchFamily="34" charset="-120"/>
              </a:rPr>
              <a:t>HIN vs SRN</a:t>
            </a:r>
            <a:endParaRPr lang="en-US" sz="1152" dirty="0"/>
          </a:p>
          <a:p>
            <a:pPr indent="0" marL="0">
              <a:lnSpc>
                <a:spcPct val="120000"/>
              </a:lnSpc>
              <a:spcBef>
                <a:spcPts val="360"/>
              </a:spcBef>
              <a:buNone/>
            </a:pPr>
            <a:r>
              <a:rPr lang="en-US" sz="1152" dirty="0">
                <a:solidFill>
                  <a:srgbClr val="92400E"/>
                </a:solidFill>
                <a:latin typeface="Microsoft YaHei" pitchFamily="34" charset="0"/>
                <a:ea typeface="Microsoft YaHei" pitchFamily="34" charset="-122"/>
                <a:cs typeface="Microsoft YaHei" pitchFamily="34" charset="-120"/>
              </a:rPr>
              <a:t>Holder Identification Number vs Securityholder Reference Number</a:t>
            </a:r>
            <a:endParaRPr lang="en-US" sz="1152" dirty="0"/>
          </a:p>
        </p:txBody>
      </p:sp>
      <p:sp>
        <p:nvSpPr>
          <p:cNvPr id="11" name="Shape 8"/>
          <p:cNvSpPr/>
          <p:nvPr/>
        </p:nvSpPr>
        <p:spPr>
          <a:xfrm>
            <a:off x="548640" y="3017520"/>
            <a:ext cx="2377440" cy="1097280"/>
          </a:xfrm>
          <a:custGeom>
            <a:avLst/>
            <a:gdLst/>
            <a:ahLst/>
            <a:cxnLst/>
            <a:rect l="l" t="t" r="r" b="b"/>
            <a:pathLst>
              <a:path w="2377440" h="1097280">
                <a:moveTo>
                  <a:pt x="0" y="0"/>
                </a:moveTo>
                <a:lnTo>
                  <a:pt x="2377440" y="0"/>
                </a:lnTo>
                <a:lnTo>
                  <a:pt x="2377440" y="1097280"/>
                </a:lnTo>
                <a:lnTo>
                  <a:pt x="0" y="1097280"/>
                </a:lnTo>
                <a:close/>
              </a:path>
            </a:pathLst>
          </a:custGeom>
          <a:solidFill>
            <a:srgbClr val="E8F4FD"/>
          </a:solidFill>
          <a:ln/>
        </p:spPr>
      </p:sp>
      <p:sp>
        <p:nvSpPr>
          <p:cNvPr id="12" name="Text 9"/>
          <p:cNvSpPr/>
          <p:nvPr/>
        </p:nvSpPr>
        <p:spPr>
          <a:xfrm>
            <a:off x="731520" y="3099816"/>
            <a:ext cx="20116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Market Metrics</a:t>
            </a:r>
            <a:endParaRPr lang="en-US" sz="1152" dirty="0"/>
          </a:p>
          <a:p>
            <a:pP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Market cap, volume, bid/ask spread, dividend yield</a:t>
            </a:r>
            <a:endParaRPr lang="en-US" sz="1152" dirty="0"/>
          </a:p>
        </p:txBody>
      </p:sp>
      <p:sp>
        <p:nvSpPr>
          <p:cNvPr id="13" name="Shape 10"/>
          <p:cNvSpPr/>
          <p:nvPr/>
        </p:nvSpPr>
        <p:spPr>
          <a:xfrm>
            <a:off x="3200400" y="3017520"/>
            <a:ext cx="2377440" cy="1097280"/>
          </a:xfrm>
          <a:custGeom>
            <a:avLst/>
            <a:gdLst/>
            <a:ahLst/>
            <a:cxnLst/>
            <a:rect l="l" t="t" r="r" b="b"/>
            <a:pathLst>
              <a:path w="2377440" h="1097280">
                <a:moveTo>
                  <a:pt x="0" y="0"/>
                </a:moveTo>
                <a:lnTo>
                  <a:pt x="2377440" y="0"/>
                </a:lnTo>
                <a:lnTo>
                  <a:pt x="2377440" y="1097280"/>
                </a:lnTo>
                <a:lnTo>
                  <a:pt x="0" y="1097280"/>
                </a:lnTo>
                <a:close/>
              </a:path>
            </a:pathLst>
          </a:custGeom>
          <a:solidFill>
            <a:srgbClr val="DCFCE7"/>
          </a:solidFill>
          <a:ln/>
        </p:spPr>
      </p:sp>
      <p:sp>
        <p:nvSpPr>
          <p:cNvPr id="14" name="Text 11"/>
          <p:cNvSpPr/>
          <p:nvPr/>
        </p:nvSpPr>
        <p:spPr>
          <a:xfrm>
            <a:off x="3383280" y="3099816"/>
            <a:ext cx="20116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Franking Credits</a:t>
            </a:r>
            <a:endParaRPr lang="en-US" sz="1152" dirty="0"/>
          </a:p>
          <a:p>
            <a:pP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Tax credits attached to Australian dividends</a:t>
            </a:r>
            <a:endParaRPr lang="en-US" sz="1152" dirty="0"/>
          </a:p>
        </p:txBody>
      </p:sp>
      <p:sp>
        <p:nvSpPr>
          <p:cNvPr id="15" name="Shape 12"/>
          <p:cNvSpPr/>
          <p:nvPr/>
        </p:nvSpPr>
        <p:spPr>
          <a:xfrm>
            <a:off x="5852160" y="3017520"/>
            <a:ext cx="2377440" cy="1097280"/>
          </a:xfrm>
          <a:custGeom>
            <a:avLst/>
            <a:gdLst/>
            <a:ahLst/>
            <a:cxnLst/>
            <a:rect l="l" t="t" r="r" b="b"/>
            <a:pathLst>
              <a:path w="2377440" h="1097280">
                <a:moveTo>
                  <a:pt x="0" y="0"/>
                </a:moveTo>
                <a:lnTo>
                  <a:pt x="2377440" y="0"/>
                </a:lnTo>
                <a:lnTo>
                  <a:pt x="2377440" y="1097280"/>
                </a:lnTo>
                <a:lnTo>
                  <a:pt x="0" y="1097280"/>
                </a:lnTo>
                <a:close/>
              </a:path>
            </a:pathLst>
          </a:custGeom>
          <a:solidFill>
            <a:srgbClr val="FEF3C7"/>
          </a:solidFill>
          <a:ln/>
        </p:spPr>
      </p:sp>
      <p:sp>
        <p:nvSpPr>
          <p:cNvPr id="16" name="Text 13"/>
          <p:cNvSpPr/>
          <p:nvPr/>
        </p:nvSpPr>
        <p:spPr>
          <a:xfrm>
            <a:off x="6035040" y="3099816"/>
            <a:ext cx="20116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92400E"/>
                </a:solidFill>
                <a:latin typeface="Microsoft YaHei" pitchFamily="34" charset="0"/>
                <a:ea typeface="Microsoft YaHei" pitchFamily="34" charset="-122"/>
                <a:cs typeface="Microsoft YaHei" pitchFamily="34" charset="-120"/>
              </a:rPr>
              <a:t>Investment Structures</a:t>
            </a:r>
            <a:endParaRPr lang="en-US" sz="1152" dirty="0"/>
          </a:p>
          <a:p>
            <a:pPr indent="0" marL="0">
              <a:lnSpc>
                <a:spcPct val="120000"/>
              </a:lnSpc>
              <a:spcBef>
                <a:spcPts val="360"/>
              </a:spcBef>
              <a:buNone/>
            </a:pPr>
            <a:r>
              <a:rPr lang="en-US" sz="1152" dirty="0">
                <a:solidFill>
                  <a:srgbClr val="92400E"/>
                </a:solidFill>
                <a:latin typeface="Microsoft YaHei" pitchFamily="34" charset="0"/>
                <a:ea typeface="Microsoft YaHei" pitchFamily="34" charset="-122"/>
                <a:cs typeface="Microsoft YaHei" pitchFamily="34" charset="-120"/>
              </a:rPr>
              <a:t>ETF, LIC, REIT — common ASX investment structures</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457200"/>
            <a:ext cx="822960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Investment Types on the ASX</a:t>
            </a:r>
            <a:endParaRPr lang="en-US" sz="1152" dirty="0"/>
          </a:p>
        </p:txBody>
      </p:sp>
      <p:sp>
        <p:nvSpPr>
          <p:cNvPr id="4" name="Text 1"/>
          <p:cNvSpPr/>
          <p:nvPr/>
        </p:nvSpPr>
        <p:spPr>
          <a:xfrm>
            <a:off x="457200" y="1188720"/>
            <a:ext cx="822960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666666"/>
                </a:solidFill>
                <a:latin typeface="Microsoft YaHei" pitchFamily="34" charset="0"/>
                <a:ea typeface="Microsoft YaHei" pitchFamily="34" charset="-122"/>
                <a:cs typeface="Microsoft YaHei" pitchFamily="34" charset="-120"/>
              </a:rPr>
              <a:t>Main asset classes and vehicles available on the Australian Securities Exchange</a:t>
            </a:r>
            <a:endParaRPr lang="en-US" sz="1152" dirty="0"/>
          </a:p>
        </p:txBody>
      </p:sp>
      <p:sp>
        <p:nvSpPr>
          <p:cNvPr id="5" name="Text 2"/>
          <p:cNvSpPr/>
          <p:nvPr/>
        </p:nvSpPr>
        <p:spPr>
          <a:xfrm>
            <a:off x="457200" y="1828800"/>
            <a:ext cx="393192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Individual shares (ordinary shares)</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Ownership in a single company</a:t>
            </a:r>
            <a:endParaRPr lang="en-US" sz="1152" dirty="0"/>
          </a:p>
        </p:txBody>
      </p:sp>
      <p:sp>
        <p:nvSpPr>
          <p:cNvPr id="6" name="Text 3"/>
          <p:cNvSpPr/>
          <p:nvPr/>
        </p:nvSpPr>
        <p:spPr>
          <a:xfrm>
            <a:off x="457200" y="2779776"/>
            <a:ext cx="393192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ETFs (Exchange Traded Funds)</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Diversified baskets tracking indices/sectors</a:t>
            </a:r>
            <a:endParaRPr lang="en-US" sz="1152" dirty="0"/>
          </a:p>
        </p:txBody>
      </p:sp>
      <p:sp>
        <p:nvSpPr>
          <p:cNvPr id="7" name="Text 4"/>
          <p:cNvSpPr/>
          <p:nvPr/>
        </p:nvSpPr>
        <p:spPr>
          <a:xfrm>
            <a:off x="457200" y="3730752"/>
            <a:ext cx="393192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LICs (Listed Investment Companies)</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Closed-end actively managed funds</a:t>
            </a:r>
            <a:endParaRPr lang="en-US" sz="1152" dirty="0"/>
          </a:p>
        </p:txBody>
      </p:sp>
      <p:sp>
        <p:nvSpPr>
          <p:cNvPr id="8" name="Text 5"/>
          <p:cNvSpPr/>
          <p:nvPr/>
        </p:nvSpPr>
        <p:spPr>
          <a:xfrm>
            <a:off x="4754880" y="1828800"/>
            <a:ext cx="393192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REITs (Real Estate Investment Trusts)</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Property exposure</a:t>
            </a:r>
            <a:endParaRPr lang="en-US" sz="1152" dirty="0"/>
          </a:p>
        </p:txBody>
      </p:sp>
      <p:sp>
        <p:nvSpPr>
          <p:cNvPr id="9" name="Text 6"/>
          <p:cNvSpPr/>
          <p:nvPr/>
        </p:nvSpPr>
        <p:spPr>
          <a:xfrm>
            <a:off x="4754880" y="2779776"/>
            <a:ext cx="393192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Bonds &amp; hybrids</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Fixed income and hybrid securities</a:t>
            </a:r>
            <a:endParaRPr lang="en-US" sz="1152" dirty="0"/>
          </a:p>
        </p:txBody>
      </p:sp>
      <p:sp>
        <p:nvSpPr>
          <p:cNvPr id="10" name="Text 7"/>
          <p:cNvSpPr/>
          <p:nvPr/>
        </p:nvSpPr>
        <p:spPr>
          <a:xfrm>
            <a:off x="4754880" y="3730752"/>
            <a:ext cx="3931920" cy="85953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b="1" dirty="0">
                <a:solidFill>
                  <a:srgbClr val="333333"/>
                </a:solidFill>
                <a:latin typeface="Microsoft YaHei" pitchFamily="34" charset="0"/>
                <a:ea typeface="Microsoft YaHei" pitchFamily="34" charset="-122"/>
                <a:cs typeface="Microsoft YaHei" pitchFamily="34" charset="-120"/>
              </a:rPr>
              <a:t>Warrants, options, mFunds</a:t>
            </a:r>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Advanced instruments (brief mention)</a:t>
            </a:r>
            <a:endParaRPr lang="en-US" sz="115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Fundamental vs Technical</a:t>
            </a:r>
            <a:endParaRPr lang="en-US" sz="1152" dirty="0"/>
          </a:p>
        </p:txBody>
      </p:sp>
      <p:sp>
        <p:nvSpPr>
          <p:cNvPr id="4" name="Shape 1"/>
          <p:cNvSpPr/>
          <p:nvPr/>
        </p:nvSpPr>
        <p:spPr>
          <a:xfrm>
            <a:off x="914400" y="1243584"/>
            <a:ext cx="7315200" cy="18288"/>
          </a:xfrm>
          <a:custGeom>
            <a:avLst/>
            <a:gdLst/>
            <a:ahLst/>
            <a:cxnLst/>
            <a:rect l="l" t="t" r="r" b="b"/>
            <a:pathLst>
              <a:path w="7315200" h="18288">
                <a:moveTo>
                  <a:pt x="0" y="0"/>
                </a:moveTo>
                <a:lnTo>
                  <a:pt x="7315200" y="0"/>
                </a:lnTo>
                <a:lnTo>
                  <a:pt x="7315200" y="18288"/>
                </a:lnTo>
                <a:lnTo>
                  <a:pt x="0" y="18288"/>
                </a:lnTo>
                <a:close/>
              </a:path>
            </a:pathLst>
          </a:custGeom>
          <a:solidFill>
            <a:srgbClr val="5B9BD5"/>
          </a:solidFill>
          <a:ln/>
        </p:spPr>
      </p:sp>
      <p:sp>
        <p:nvSpPr>
          <p:cNvPr id="5" name="Text 2"/>
          <p:cNvSpPr/>
          <p:nvPr/>
        </p:nvSpPr>
        <p:spPr>
          <a:xfrm>
            <a:off x="548640" y="1463040"/>
            <a:ext cx="393192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Fundamental Analysis</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Financial health &amp; earnings</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P/E ratio &amp; dividend history</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Competitive moat</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Long-term value focus</a:t>
            </a:r>
            <a:endParaRPr lang="en-US" sz="1152" dirty="0"/>
          </a:p>
        </p:txBody>
      </p:sp>
      <p:sp>
        <p:nvSpPr>
          <p:cNvPr id="6" name="Text 3"/>
          <p:cNvSpPr/>
          <p:nvPr/>
        </p:nvSpPr>
        <p:spPr>
          <a:xfrm>
            <a:off x="4663440" y="1463040"/>
            <a:ext cx="393192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333333"/>
                </a:solidFill>
                <a:latin typeface="Microsoft YaHei" pitchFamily="34" charset="0"/>
                <a:ea typeface="Microsoft YaHei" pitchFamily="34" charset="-122"/>
                <a:cs typeface="Microsoft YaHei" pitchFamily="34" charset="-120"/>
              </a:rPr>
              <a:t>Technical Analysis</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Price charts &amp; trends</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Volume &amp; momentum</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Support &amp; resistance</a:t>
            </a:r>
            <a:endParaRPr lang="en-US" sz="1152" dirty="0"/>
          </a:p>
          <a:p>
            <a:pP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 Short-term trading signals</a:t>
            </a:r>
            <a:endParaRPr lang="en-US" sz="1152" dirty="0"/>
          </a:p>
        </p:txBody>
      </p:sp>
      <p:sp>
        <p:nvSpPr>
          <p:cNvPr id="7" name="Shape 4"/>
          <p:cNvSpPr/>
          <p:nvPr/>
        </p:nvSpPr>
        <p:spPr>
          <a:xfrm>
            <a:off x="548640" y="310896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E8F4FD"/>
          </a:solidFill>
          <a:ln/>
        </p:spPr>
      </p:sp>
      <p:sp>
        <p:nvSpPr>
          <p:cNvPr id="8" name="Text 5"/>
          <p:cNvSpPr/>
          <p:nvPr/>
        </p:nvSpPr>
        <p:spPr>
          <a:xfrm>
            <a:off x="731520" y="3246120"/>
            <a:ext cx="3566160" cy="94183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Key Metrics</a:t>
            </a: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EPS, P/E, ROE</a:t>
            </a: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Debt/Equity, Div. Yield, Franking</a:t>
            </a:r>
            <a:endParaRPr lang="en-US" sz="1152" dirty="0"/>
          </a:p>
        </p:txBody>
      </p:sp>
      <p:sp>
        <p:nvSpPr>
          <p:cNvPr id="9" name="Shape 6"/>
          <p:cNvSpPr/>
          <p:nvPr/>
        </p:nvSpPr>
        <p:spPr>
          <a:xfrm>
            <a:off x="4663440" y="3108960"/>
            <a:ext cx="3931920" cy="1463040"/>
          </a:xfrm>
          <a:custGeom>
            <a:avLst/>
            <a:gdLst/>
            <a:ahLst/>
            <a:cxnLst/>
            <a:rect l="l" t="t" r="r" b="b"/>
            <a:pathLst>
              <a:path w="3931920" h="1463040">
                <a:moveTo>
                  <a:pt x="0" y="0"/>
                </a:moveTo>
                <a:lnTo>
                  <a:pt x="3931920" y="0"/>
                </a:lnTo>
                <a:lnTo>
                  <a:pt x="3931920" y="1463040"/>
                </a:lnTo>
                <a:lnTo>
                  <a:pt x="0" y="1463040"/>
                </a:lnTo>
                <a:close/>
              </a:path>
            </a:pathLst>
          </a:custGeom>
          <a:solidFill>
            <a:srgbClr val="FEF3C7"/>
          </a:solidFill>
          <a:ln/>
        </p:spPr>
      </p:sp>
      <p:sp>
        <p:nvSpPr>
          <p:cNvPr id="10" name="Text 7"/>
          <p:cNvSpPr/>
          <p:nvPr/>
        </p:nvSpPr>
        <p:spPr>
          <a:xfrm>
            <a:off x="4846320" y="3191256"/>
            <a:ext cx="3566160" cy="129844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92400E"/>
                </a:solidFill>
                <a:latin typeface="Microsoft YaHei" pitchFamily="34" charset="0"/>
                <a:ea typeface="Microsoft YaHei" pitchFamily="34" charset="-122"/>
                <a:cs typeface="Microsoft YaHei" pitchFamily="34" charset="-120"/>
              </a:rPr>
              <a:t>Data Sources</a:t>
            </a:r>
            <a:endParaRPr lang="en-US" sz="1152" dirty="0"/>
          </a:p>
          <a:p>
            <a:pPr algn="ctr" indent="0" marL="0">
              <a:lnSpc>
                <a:spcPct val="120000"/>
              </a:lnSpc>
              <a:spcBef>
                <a:spcPts val="360"/>
              </a:spcBef>
              <a:buNone/>
            </a:pPr>
            <a:r>
              <a:rPr lang="en-US" sz="1008" dirty="0">
                <a:solidFill>
                  <a:srgbClr val="92400E"/>
                </a:solidFill>
                <a:latin typeface="Microsoft YaHei" pitchFamily="34" charset="0"/>
                <a:ea typeface="Microsoft YaHei" pitchFamily="34" charset="-122"/>
                <a:cs typeface="Microsoft YaHei" pitchFamily="34" charset="-120"/>
              </a:rPr>
              <a:t>• ASX website &amp; announcements</a:t>
            </a:r>
            <a:endParaRPr lang="en-US" sz="1152" dirty="0"/>
          </a:p>
          <a:p>
            <a:pPr algn="ctr" indent="0" marL="0">
              <a:lnSpc>
                <a:spcPct val="120000"/>
              </a:lnSpc>
              <a:spcBef>
                <a:spcPts val="360"/>
              </a:spcBef>
              <a:buNone/>
            </a:pPr>
            <a:r>
              <a:rPr lang="en-US" sz="1008" dirty="0">
                <a:solidFill>
                  <a:srgbClr val="92400E"/>
                </a:solidFill>
                <a:latin typeface="Microsoft YaHei" pitchFamily="34" charset="0"/>
                <a:ea typeface="Microsoft YaHei" pitchFamily="34" charset="-122"/>
                <a:cs typeface="Microsoft YaHei" pitchFamily="34" charset="-120"/>
              </a:rPr>
              <a:t>• Broker research</a:t>
            </a:r>
            <a:endParaRPr lang="en-US" sz="1152" dirty="0"/>
          </a:p>
          <a:p>
            <a:pPr algn="ctr" indent="0" marL="0">
              <a:lnSpc>
                <a:spcPct val="120000"/>
              </a:lnSpc>
              <a:spcBef>
                <a:spcPts val="360"/>
              </a:spcBef>
              <a:buNone/>
            </a:pPr>
            <a:r>
              <a:rPr lang="en-US" sz="1008" dirty="0">
                <a:solidFill>
                  <a:srgbClr val="92400E"/>
                </a:solidFill>
                <a:latin typeface="Microsoft YaHei" pitchFamily="34" charset="0"/>
                <a:ea typeface="Microsoft YaHei" pitchFamily="34" charset="-122"/>
                <a:cs typeface="Microsoft YaHei" pitchFamily="34" charset="-120"/>
              </a:rPr>
              <a:t>• Financial news</a:t>
            </a:r>
            <a:endParaRPr lang="en-US" sz="1152" dirty="0"/>
          </a:p>
          <a:p>
            <a:pPr algn="ctr" indent="0" marL="0">
              <a:lnSpc>
                <a:spcPct val="120000"/>
              </a:lnSpc>
              <a:spcBef>
                <a:spcPts val="360"/>
              </a:spcBef>
              <a:buNone/>
            </a:pPr>
            <a:r>
              <a:rPr lang="en-US" sz="1008" dirty="0">
                <a:solidFill>
                  <a:srgbClr val="92400E"/>
                </a:solidFill>
                <a:latin typeface="Microsoft YaHei" pitchFamily="34" charset="0"/>
                <a:ea typeface="Microsoft YaHei" pitchFamily="34" charset="-122"/>
                <a:cs typeface="Microsoft YaHei" pitchFamily="34" charset="-120"/>
              </a:rPr>
              <a:t>• ETF fact sheets</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Risk Management Essentials</a:t>
            </a:r>
            <a:endParaRPr lang="en-US" sz="1152" dirty="0"/>
          </a:p>
        </p:txBody>
      </p:sp>
      <p:sp>
        <p:nvSpPr>
          <p:cNvPr id="4" name="Text 1"/>
          <p:cNvSpPr/>
          <p:nvPr/>
        </p:nvSpPr>
        <p:spPr>
          <a:xfrm>
            <a:off x="548640" y="1243584"/>
            <a:ext cx="80467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dirty="0">
                <a:solidFill>
                  <a:srgbClr val="555555"/>
                </a:solidFill>
                <a:latin typeface="Microsoft YaHei" pitchFamily="34" charset="0"/>
                <a:ea typeface="Microsoft YaHei" pitchFamily="34" charset="-122"/>
                <a:cs typeface="Microsoft YaHei" pitchFamily="34" charset="-120"/>
              </a:rPr>
              <a:t>Protecting Your Capital on the ASX</a:t>
            </a:r>
            <a:endParaRPr lang="en-US" sz="1152" dirty="0"/>
          </a:p>
        </p:txBody>
      </p:sp>
      <p:sp>
        <p:nvSpPr>
          <p:cNvPr id="5" name="Shape 2"/>
          <p:cNvSpPr/>
          <p:nvPr/>
        </p:nvSpPr>
        <p:spPr>
          <a:xfrm>
            <a:off x="548640" y="1810512"/>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5B9BD5"/>
          </a:solidFill>
          <a:ln/>
        </p:spPr>
      </p:sp>
      <p:sp>
        <p:nvSpPr>
          <p:cNvPr id="6" name="Shape 3"/>
          <p:cNvSpPr/>
          <p:nvPr/>
        </p:nvSpPr>
        <p:spPr>
          <a:xfrm>
            <a:off x="548640" y="1920240"/>
            <a:ext cx="3840480" cy="2697480"/>
          </a:xfrm>
          <a:custGeom>
            <a:avLst/>
            <a:gdLst/>
            <a:ahLst/>
            <a:cxnLst/>
            <a:rect l="l" t="t" r="r" b="b"/>
            <a:pathLst>
              <a:path w="3840480" h="2697480">
                <a:moveTo>
                  <a:pt x="0" y="0"/>
                </a:moveTo>
                <a:lnTo>
                  <a:pt x="3840480" y="0"/>
                </a:lnTo>
                <a:lnTo>
                  <a:pt x="3840480" y="2697480"/>
                </a:lnTo>
                <a:lnTo>
                  <a:pt x="0" y="2697480"/>
                </a:lnTo>
                <a:close/>
              </a:path>
            </a:pathLst>
          </a:custGeom>
          <a:solidFill>
            <a:srgbClr val="F3F4F6"/>
          </a:solidFill>
          <a:ln/>
        </p:spPr>
      </p:sp>
      <p:sp>
        <p:nvSpPr>
          <p:cNvPr id="7" name="Shape 4"/>
          <p:cNvSpPr/>
          <p:nvPr/>
        </p:nvSpPr>
        <p:spPr>
          <a:xfrm>
            <a:off x="4572000" y="1920240"/>
            <a:ext cx="3840480" cy="2697480"/>
          </a:xfrm>
          <a:custGeom>
            <a:avLst/>
            <a:gdLst/>
            <a:ahLst/>
            <a:cxnLst/>
            <a:rect l="l" t="t" r="r" b="b"/>
            <a:pathLst>
              <a:path w="3840480" h="2697480">
                <a:moveTo>
                  <a:pt x="0" y="0"/>
                </a:moveTo>
                <a:lnTo>
                  <a:pt x="3840480" y="0"/>
                </a:lnTo>
                <a:lnTo>
                  <a:pt x="3840480" y="2697480"/>
                </a:lnTo>
                <a:lnTo>
                  <a:pt x="0" y="2697480"/>
                </a:lnTo>
                <a:close/>
              </a:path>
            </a:pathLst>
          </a:custGeom>
          <a:solidFill>
            <a:srgbClr val="F3F4F6"/>
          </a:solidFill>
          <a:ln/>
        </p:spPr>
      </p:sp>
      <p:sp>
        <p:nvSpPr>
          <p:cNvPr id="8" name="Text 5"/>
          <p:cNvSpPr/>
          <p:nvPr/>
        </p:nvSpPr>
        <p:spPr>
          <a:xfrm>
            <a:off x="731520" y="2103120"/>
            <a:ext cx="347472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Diversify across sectors, sizes, geographies, asset types</a:t>
            </a:r>
            <a:endParaRPr lang="en-US" sz="1152" dirty="0"/>
          </a:p>
        </p:txBody>
      </p:sp>
      <p:sp>
        <p:nvSpPr>
          <p:cNvPr id="9" name="Text 6"/>
          <p:cNvSpPr/>
          <p:nvPr/>
        </p:nvSpPr>
        <p:spPr>
          <a:xfrm>
            <a:off x="731520" y="2971800"/>
            <a:ext cx="347472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Position sizing: Risk 1–5% per position</a:t>
            </a:r>
            <a:endParaRPr lang="en-US" sz="1152" dirty="0"/>
          </a:p>
        </p:txBody>
      </p:sp>
      <p:sp>
        <p:nvSpPr>
          <p:cNvPr id="10" name="Text 7"/>
          <p:cNvSpPr/>
          <p:nvPr/>
        </p:nvSpPr>
        <p:spPr>
          <a:xfrm>
            <a:off x="731520" y="3840480"/>
            <a:ext cx="347472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Stop-loss discipline vs long-term mindset</a:t>
            </a:r>
            <a:endParaRPr lang="en-US" sz="1152" dirty="0"/>
          </a:p>
        </p:txBody>
      </p:sp>
      <p:sp>
        <p:nvSpPr>
          <p:cNvPr id="11" name="Text 8"/>
          <p:cNvSpPr/>
          <p:nvPr/>
        </p:nvSpPr>
        <p:spPr>
          <a:xfrm>
            <a:off x="4754880" y="2103120"/>
            <a:ext cx="347472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Know market, sector, company, liquidity risks</a:t>
            </a:r>
            <a:endParaRPr lang="en-US" sz="1152" dirty="0"/>
          </a:p>
        </p:txBody>
      </p:sp>
      <p:sp>
        <p:nvSpPr>
          <p:cNvPr id="12" name="Text 9"/>
          <p:cNvSpPr/>
          <p:nvPr/>
        </p:nvSpPr>
        <p:spPr>
          <a:xfrm>
            <a:off x="4754880" y="2971800"/>
            <a:ext cx="347472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Sleep test: If it keeps you awake, it's too large</a:t>
            </a:r>
            <a:endParaRPr lang="en-US" sz="1152" dirty="0"/>
          </a:p>
        </p:txBody>
      </p:sp>
      <p:sp>
        <p:nvSpPr>
          <p:cNvPr id="13" name="Text 10"/>
          <p:cNvSpPr/>
          <p:nvPr/>
        </p:nvSpPr>
        <p:spPr>
          <a:xfrm>
            <a:off x="4754880" y="3840480"/>
            <a:ext cx="3474720" cy="77724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008" dirty="0">
                <a:solidFill>
                  <a:srgbClr val="333333"/>
                </a:solidFill>
                <a:latin typeface="Microsoft YaHei" pitchFamily="34" charset="0"/>
                <a:ea typeface="Microsoft YaHei" pitchFamily="34" charset="-122"/>
                <a:cs typeface="Microsoft YaHei" pitchFamily="34" charset="-120"/>
              </a:rPr>
              <a:t>• Review portfolio quarterly/semi-annually</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Tax Considerations for Australian Investors</a:t>
            </a:r>
            <a:endParaRPr lang="en-US" sz="1152" dirty="0"/>
          </a:p>
        </p:txBody>
      </p:sp>
      <p:sp>
        <p:nvSpPr>
          <p:cNvPr id="4" name="Shape 1"/>
          <p:cNvSpPr/>
          <p:nvPr/>
        </p:nvSpPr>
        <p:spPr>
          <a:xfrm>
            <a:off x="914400" y="1143000"/>
            <a:ext cx="7315200" cy="27432"/>
          </a:xfrm>
          <a:custGeom>
            <a:avLst/>
            <a:gdLst/>
            <a:ahLst/>
            <a:cxnLst/>
            <a:rect l="l" t="t" r="r" b="b"/>
            <a:pathLst>
              <a:path w="7315200" h="27432">
                <a:moveTo>
                  <a:pt x="0" y="0"/>
                </a:moveTo>
                <a:lnTo>
                  <a:pt x="7315200" y="0"/>
                </a:lnTo>
                <a:lnTo>
                  <a:pt x="7315200" y="27432"/>
                </a:lnTo>
                <a:lnTo>
                  <a:pt x="0" y="27432"/>
                </a:lnTo>
                <a:close/>
              </a:path>
            </a:pathLst>
          </a:custGeom>
          <a:solidFill>
            <a:srgbClr val="5B9BD5"/>
          </a:solidFill>
          <a:ln/>
        </p:spPr>
      </p:sp>
      <p:sp>
        <p:nvSpPr>
          <p:cNvPr id="5" name="Text 2"/>
          <p:cNvSpPr/>
          <p:nvPr/>
        </p:nvSpPr>
        <p:spPr>
          <a:xfrm>
            <a:off x="731520" y="1234440"/>
            <a:ext cx="76809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CGT: 50% discount for assets held &gt;12 months</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Franking credits: Avoid double taxation on dividends</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Super: Tax-advantaged investing (SMSF/industry funds)</a:t>
            </a:r>
            <a:endParaRPr lang="en-US" sz="1152" dirty="0"/>
          </a:p>
        </p:txBody>
      </p:sp>
      <p:sp>
        <p:nvSpPr>
          <p:cNvPr id="6" name="Text 3"/>
          <p:cNvSpPr/>
          <p:nvPr/>
        </p:nvSpPr>
        <p:spPr>
          <a:xfrm>
            <a:off x="731520" y="2359152"/>
            <a:ext cx="768096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Record keeping: Track dates, prices, brokerage</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ATO pre-fill data: Verify broker-provided accuracy</a:t>
            </a:r>
            <a:endParaRPr lang="en-US" sz="1152" dirty="0"/>
          </a:p>
          <a:p>
            <a:pPr indent="0" marL="0">
              <a:lnSpc>
                <a:spcPct val="120000"/>
              </a:lnSpc>
              <a:spcBef>
                <a:spcPts val="360"/>
              </a:spcBef>
              <a:buNone/>
            </a:pPr>
            <a:r>
              <a:rPr lang="en-US" sz="1296" dirty="0">
                <a:solidFill>
                  <a:srgbClr val="333333"/>
                </a:solidFill>
                <a:latin typeface="Microsoft YaHei" pitchFamily="34" charset="0"/>
                <a:ea typeface="Microsoft YaHei" pitchFamily="34" charset="-122"/>
                <a:cs typeface="Microsoft YaHei" pitchFamily="34" charset="-120"/>
              </a:rPr>
              <a:t>• Seek qualified tax advice for personal circumstances</a:t>
            </a:r>
            <a:endParaRPr lang="en-US" sz="1152"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Getting Started: Step-by-Step</a:t>
            </a:r>
            <a:endParaRPr lang="en-US" sz="1152" dirty="0"/>
          </a:p>
        </p:txBody>
      </p:sp>
      <p:sp>
        <p:nvSpPr>
          <p:cNvPr id="4" name="Shape 1"/>
          <p:cNvSpPr/>
          <p:nvPr/>
        </p:nvSpPr>
        <p:spPr>
          <a:xfrm>
            <a:off x="548640" y="1426464"/>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DBEAFE"/>
          </a:solidFill>
          <a:ln/>
        </p:spPr>
      </p:sp>
      <p:sp>
        <p:nvSpPr>
          <p:cNvPr id="5" name="Text 2"/>
          <p:cNvSpPr/>
          <p:nvPr/>
        </p:nvSpPr>
        <p:spPr>
          <a:xfrm>
            <a:off x="731520" y="1563624"/>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E40AF"/>
                </a:solidFill>
                <a:latin typeface="Microsoft YaHei" pitchFamily="34" charset="0"/>
                <a:ea typeface="Microsoft YaHei" pitchFamily="34" charset="-122"/>
                <a:cs typeface="Microsoft YaHei" pitchFamily="34" charset="-120"/>
              </a:rPr>
              <a:t>1. Choose a Broker</a:t>
            </a: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Compare fees, platform, research tools</a:t>
            </a:r>
            <a:endParaRPr lang="en-US" sz="1152" dirty="0"/>
          </a:p>
        </p:txBody>
      </p:sp>
      <p:sp>
        <p:nvSpPr>
          <p:cNvPr id="6" name="Shape 3"/>
          <p:cNvSpPr/>
          <p:nvPr/>
        </p:nvSpPr>
        <p:spPr>
          <a:xfrm>
            <a:off x="548640" y="2523744"/>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DBEAFE"/>
          </a:solidFill>
          <a:ln/>
        </p:spPr>
      </p:sp>
      <p:sp>
        <p:nvSpPr>
          <p:cNvPr id="7" name="Text 4"/>
          <p:cNvSpPr/>
          <p:nvPr/>
        </p:nvSpPr>
        <p:spPr>
          <a:xfrm>
            <a:off x="731520" y="2660904"/>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E40AF"/>
                </a:solidFill>
                <a:latin typeface="Microsoft YaHei" pitchFamily="34" charset="0"/>
                <a:ea typeface="Microsoft YaHei" pitchFamily="34" charset="-122"/>
                <a:cs typeface="Microsoft YaHei" pitchFamily="34" charset="-120"/>
              </a:rPr>
              <a:t>2. Account Types</a:t>
            </a: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Individual, joint, company, trust, SMSF</a:t>
            </a:r>
            <a:endParaRPr lang="en-US" sz="1152" dirty="0"/>
          </a:p>
        </p:txBody>
      </p:sp>
      <p:sp>
        <p:nvSpPr>
          <p:cNvPr id="8" name="Shape 5"/>
          <p:cNvSpPr/>
          <p:nvPr/>
        </p:nvSpPr>
        <p:spPr>
          <a:xfrm>
            <a:off x="548640" y="3621024"/>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DBEAFE"/>
          </a:solidFill>
          <a:ln/>
        </p:spPr>
      </p:sp>
      <p:sp>
        <p:nvSpPr>
          <p:cNvPr id="9" name="Text 6"/>
          <p:cNvSpPr/>
          <p:nvPr/>
        </p:nvSpPr>
        <p:spPr>
          <a:xfrm>
            <a:off x="731520" y="3758184"/>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E40AF"/>
                </a:solidFill>
                <a:latin typeface="Microsoft YaHei" pitchFamily="34" charset="0"/>
                <a:ea typeface="Microsoft YaHei" pitchFamily="34" charset="-122"/>
                <a:cs typeface="Microsoft YaHei" pitchFamily="34" charset="-120"/>
              </a:rPr>
              <a:t>3. ID Verification</a:t>
            </a:r>
            <a:endParaRPr lang="en-US" sz="1152" dirty="0"/>
          </a:p>
          <a:p>
            <a:pPr algn="ctr" indent="0" marL="0">
              <a:lnSpc>
                <a:spcPct val="120000"/>
              </a:lnSpc>
              <a:spcBef>
                <a:spcPts val="360"/>
              </a:spcBef>
              <a:buNone/>
            </a:pPr>
            <a:r>
              <a:rPr lang="en-US" sz="1152" dirty="0">
                <a:solidFill>
                  <a:srgbClr val="1E40AF"/>
                </a:solidFill>
                <a:latin typeface="Microsoft YaHei" pitchFamily="34" charset="0"/>
                <a:ea typeface="Microsoft YaHei" pitchFamily="34" charset="-122"/>
                <a:cs typeface="Microsoft YaHei" pitchFamily="34" charset="-120"/>
              </a:rPr>
              <a:t>100-point check, provide TFN/ABN</a:t>
            </a:r>
            <a:endParaRPr lang="en-US" sz="1152" dirty="0"/>
          </a:p>
        </p:txBody>
      </p:sp>
      <p:sp>
        <p:nvSpPr>
          <p:cNvPr id="10" name="Shape 7"/>
          <p:cNvSpPr/>
          <p:nvPr/>
        </p:nvSpPr>
        <p:spPr>
          <a:xfrm>
            <a:off x="4846320" y="1426464"/>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DCFCE7"/>
          </a:solidFill>
          <a:ln/>
        </p:spPr>
      </p:sp>
      <p:sp>
        <p:nvSpPr>
          <p:cNvPr id="11" name="Text 8"/>
          <p:cNvSpPr/>
          <p:nvPr/>
        </p:nvSpPr>
        <p:spPr>
          <a:xfrm>
            <a:off x="5029200" y="1563624"/>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66534"/>
                </a:solidFill>
                <a:latin typeface="Microsoft YaHei" pitchFamily="34" charset="0"/>
                <a:ea typeface="Microsoft YaHei" pitchFamily="34" charset="-122"/>
                <a:cs typeface="Microsoft YaHei" pitchFamily="34" charset="-120"/>
              </a:rPr>
              <a:t>4. Fund Account</a:t>
            </a: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Bank transfer, BPAY, international transfer</a:t>
            </a:r>
            <a:endParaRPr lang="en-US" sz="1152" dirty="0"/>
          </a:p>
        </p:txBody>
      </p:sp>
      <p:sp>
        <p:nvSpPr>
          <p:cNvPr id="12" name="Shape 9"/>
          <p:cNvSpPr/>
          <p:nvPr/>
        </p:nvSpPr>
        <p:spPr>
          <a:xfrm>
            <a:off x="4846320" y="2523744"/>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DCFCE7"/>
          </a:solidFill>
          <a:ln/>
        </p:spPr>
      </p:sp>
      <p:sp>
        <p:nvSpPr>
          <p:cNvPr id="13" name="Text 10"/>
          <p:cNvSpPr/>
          <p:nvPr/>
        </p:nvSpPr>
        <p:spPr>
          <a:xfrm>
            <a:off x="5029200" y="2660904"/>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66534"/>
                </a:solidFill>
                <a:latin typeface="Microsoft YaHei" pitchFamily="34" charset="0"/>
                <a:ea typeface="Microsoft YaHei" pitchFamily="34" charset="-122"/>
                <a:cs typeface="Microsoft YaHei" pitchFamily="34" charset="-120"/>
              </a:rPr>
              <a:t>5. Place First Trade</a:t>
            </a: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Market vs limit order, T+2 settlement, CHESS</a:t>
            </a:r>
            <a:endParaRPr lang="en-US" sz="1152" dirty="0"/>
          </a:p>
        </p:txBody>
      </p:sp>
      <p:sp>
        <p:nvSpPr>
          <p:cNvPr id="14" name="Shape 11"/>
          <p:cNvSpPr/>
          <p:nvPr/>
        </p:nvSpPr>
        <p:spPr>
          <a:xfrm>
            <a:off x="4846320" y="3621024"/>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DCFCE7"/>
          </a:solidFill>
          <a:ln/>
        </p:spPr>
      </p:sp>
      <p:sp>
        <p:nvSpPr>
          <p:cNvPr id="15" name="Text 12"/>
          <p:cNvSpPr/>
          <p:nvPr/>
        </p:nvSpPr>
        <p:spPr>
          <a:xfrm>
            <a:off x="5029200" y="3758184"/>
            <a:ext cx="3566160" cy="640080"/>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166534"/>
                </a:solidFill>
                <a:latin typeface="Microsoft YaHei" pitchFamily="34" charset="0"/>
                <a:ea typeface="Microsoft YaHei" pitchFamily="34" charset="-122"/>
                <a:cs typeface="Microsoft YaHei" pitchFamily="34" charset="-120"/>
              </a:rPr>
              <a:t>6. Ongoing Management</a:t>
            </a:r>
            <a:endParaRPr lang="en-US" sz="1152" dirty="0"/>
          </a:p>
          <a:p>
            <a:pPr algn="ctr" indent="0" marL="0">
              <a:lnSpc>
                <a:spcPct val="120000"/>
              </a:lnSpc>
              <a:spcBef>
                <a:spcPts val="360"/>
              </a:spcBef>
              <a:buNone/>
            </a:pPr>
            <a:r>
              <a:rPr lang="en-US" sz="1152" dirty="0">
                <a:solidFill>
                  <a:srgbClr val="166534"/>
                </a:solidFill>
                <a:latin typeface="Microsoft YaHei" pitchFamily="34" charset="0"/>
                <a:ea typeface="Microsoft YaHei" pitchFamily="34" charset="-122"/>
                <a:cs typeface="Microsoft YaHei" pitchFamily="34" charset="-120"/>
              </a:rPr>
              <a:t>Monitor, reinvest dividends (DRP), review strategy</a:t>
            </a:r>
            <a:endParaRPr lang="en-US" sz="11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54864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Next Steps &amp; Resources</a:t>
            </a:r>
            <a:endParaRPr lang="en-US" sz="1152" dirty="0"/>
          </a:p>
        </p:txBody>
      </p:sp>
      <p:sp>
        <p:nvSpPr>
          <p:cNvPr id="4" name="Shape 1"/>
          <p:cNvSpPr/>
          <p:nvPr/>
        </p:nvSpPr>
        <p:spPr>
          <a:xfrm>
            <a:off x="548640" y="128016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5B9BD5"/>
          </a:solidFill>
          <a:ln/>
        </p:spPr>
      </p:sp>
      <p:sp>
        <p:nvSpPr>
          <p:cNvPr id="5" name="Shape 2"/>
          <p:cNvSpPr/>
          <p:nvPr/>
        </p:nvSpPr>
        <p:spPr>
          <a:xfrm>
            <a:off x="548640" y="1463040"/>
            <a:ext cx="8046720" cy="1508760"/>
          </a:xfrm>
          <a:custGeom>
            <a:avLst/>
            <a:gdLst/>
            <a:ahLst/>
            <a:cxnLst/>
            <a:rect l="l" t="t" r="r" b="b"/>
            <a:pathLst>
              <a:path w="8046720" h="1508760">
                <a:moveTo>
                  <a:pt x="0" y="0"/>
                </a:moveTo>
                <a:lnTo>
                  <a:pt x="8046720" y="0"/>
                </a:lnTo>
                <a:lnTo>
                  <a:pt x="8046720" y="1508760"/>
                </a:lnTo>
                <a:lnTo>
                  <a:pt x="0" y="1508760"/>
                </a:lnTo>
                <a:close/>
              </a:path>
            </a:pathLst>
          </a:custGeom>
          <a:solidFill>
            <a:srgbClr val="DBEAFE"/>
          </a:solidFill>
          <a:ln/>
        </p:spPr>
      </p:sp>
      <p:sp>
        <p:nvSpPr>
          <p:cNvPr id="6" name="Text 3"/>
          <p:cNvSpPr/>
          <p:nvPr/>
        </p:nvSpPr>
        <p:spPr>
          <a:xfrm>
            <a:off x="731520" y="1572768"/>
            <a:ext cx="768096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1E3A5F"/>
                </a:solidFill>
                <a:latin typeface="Microsoft YaHei" pitchFamily="34" charset="0"/>
                <a:ea typeface="Microsoft YaHei" pitchFamily="34" charset="-122"/>
                <a:cs typeface="Microsoft YaHei" pitchFamily="34" charset="-120"/>
              </a:rPr>
              <a:t>Resources for Continued Learning</a:t>
            </a:r>
            <a:endParaRPr lang="en-US" sz="1152" dirty="0"/>
          </a:p>
          <a:p>
            <a:pPr indent="0" marL="0">
              <a:lnSpc>
                <a:spcPct val="120000"/>
              </a:lnSpc>
              <a:spcBef>
                <a:spcPts val="360"/>
              </a:spcBef>
              <a:buNone/>
            </a:pPr>
            <a:r>
              <a:rPr lang="en-US" sz="1152" b="1" dirty="0">
                <a:solidFill>
                  <a:srgbClr val="1E3A5F"/>
                </a:solidFill>
                <a:latin typeface="Microsoft YaHei" pitchFamily="34" charset="0"/>
                <a:ea typeface="Microsoft YaHei" pitchFamily="34" charset="-122"/>
                <a:cs typeface="Microsoft YaHei" pitchFamily="34" charset="-120"/>
              </a:rPr>
              <a:t>Recommended Reading:</a:t>
            </a:r>
            <a:pPr indent="0" marL="0">
              <a:lnSpc>
                <a:spcPct val="120000"/>
              </a:lnSpc>
              <a:spcBef>
                <a:spcPts val="360"/>
              </a:spcBef>
              <a:buNone/>
            </a:pPr>
            <a:r>
              <a:rPr lang="en-US" sz="1152" dirty="0">
                <a:solidFill>
                  <a:srgbClr val="1E3A5F"/>
                </a:solidFill>
                <a:latin typeface="Microsoft YaHei" pitchFamily="34" charset="0"/>
                <a:ea typeface="Microsoft YaHei" pitchFamily="34" charset="-122"/>
                <a:cs typeface="Microsoft YaHei" pitchFamily="34" charset="-120"/>
              </a:rPr>
              <a:t> The Barefoot Investor, ASX Education Centre, Morningstar Australia</a:t>
            </a:r>
            <a:endParaRPr lang="en-US" sz="1152" dirty="0"/>
          </a:p>
          <a:p>
            <a:pPr indent="0" marL="0">
              <a:lnSpc>
                <a:spcPct val="120000"/>
              </a:lnSpc>
              <a:spcBef>
                <a:spcPts val="360"/>
              </a:spcBef>
              <a:buNone/>
            </a:pPr>
            <a:r>
              <a:rPr lang="en-US" sz="1152" b="1" dirty="0">
                <a:solidFill>
                  <a:srgbClr val="1E3A5F"/>
                </a:solidFill>
                <a:latin typeface="Microsoft YaHei" pitchFamily="34" charset="0"/>
                <a:ea typeface="Microsoft YaHei" pitchFamily="34" charset="-122"/>
                <a:cs typeface="Microsoft YaHei" pitchFamily="34" charset="-120"/>
              </a:rPr>
              <a:t>Free Tools:</a:t>
            </a:r>
            <a:pPr indent="0" marL="0">
              <a:lnSpc>
                <a:spcPct val="120000"/>
              </a:lnSpc>
              <a:spcBef>
                <a:spcPts val="360"/>
              </a:spcBef>
              <a:buNone/>
            </a:pPr>
            <a:r>
              <a:rPr lang="en-US" sz="1152" dirty="0">
                <a:solidFill>
                  <a:srgbClr val="1E3A5F"/>
                </a:solidFill>
                <a:latin typeface="Microsoft YaHei" pitchFamily="34" charset="0"/>
                <a:ea typeface="Microsoft YaHei" pitchFamily="34" charset="-122"/>
                <a:cs typeface="Microsoft YaHei" pitchFamily="34" charset="-120"/>
              </a:rPr>
              <a:t> ASX website, CommSec/NABtrade/Stake demo accounts, Yahoo Finance AU</a:t>
            </a:r>
            <a:endParaRPr lang="en-US" sz="1152" dirty="0"/>
          </a:p>
          <a:p>
            <a:pPr indent="0" marL="0">
              <a:lnSpc>
                <a:spcPct val="120000"/>
              </a:lnSpc>
              <a:spcBef>
                <a:spcPts val="360"/>
              </a:spcBef>
              <a:buNone/>
            </a:pPr>
            <a:r>
              <a:rPr lang="en-US" sz="1152" b="1" dirty="0">
                <a:solidFill>
                  <a:srgbClr val="1E3A5F"/>
                </a:solidFill>
                <a:latin typeface="Microsoft YaHei" pitchFamily="34" charset="0"/>
                <a:ea typeface="Microsoft YaHei" pitchFamily="34" charset="-122"/>
                <a:cs typeface="Microsoft YaHei" pitchFamily="34" charset="-120"/>
              </a:rPr>
              <a:t>Community:</a:t>
            </a:r>
            <a:pPr indent="0" marL="0">
              <a:lnSpc>
                <a:spcPct val="120000"/>
              </a:lnSpc>
              <a:spcBef>
                <a:spcPts val="360"/>
              </a:spcBef>
              <a:buNone/>
            </a:pPr>
            <a:r>
              <a:rPr lang="en-US" sz="1152" dirty="0">
                <a:solidFill>
                  <a:srgbClr val="1E3A5F"/>
                </a:solidFill>
                <a:latin typeface="Microsoft YaHei" pitchFamily="34" charset="0"/>
                <a:ea typeface="Microsoft YaHei" pitchFamily="34" charset="-122"/>
                <a:cs typeface="Microsoft YaHei" pitchFamily="34" charset="-120"/>
              </a:rPr>
              <a:t> ASX Investor Hub, Reddit r/ASX_Bets (caution), Whirlpool forums</a:t>
            </a:r>
            <a:endParaRPr lang="en-US" sz="1152" dirty="0"/>
          </a:p>
        </p:txBody>
      </p:sp>
      <p:sp>
        <p:nvSpPr>
          <p:cNvPr id="7" name="Shape 4"/>
          <p:cNvSpPr/>
          <p:nvPr/>
        </p:nvSpPr>
        <p:spPr>
          <a:xfrm>
            <a:off x="548640" y="3154680"/>
            <a:ext cx="8046720" cy="1508760"/>
          </a:xfrm>
          <a:custGeom>
            <a:avLst/>
            <a:gdLst/>
            <a:ahLst/>
            <a:cxnLst/>
            <a:rect l="l" t="t" r="r" b="b"/>
            <a:pathLst>
              <a:path w="8046720" h="1508760">
                <a:moveTo>
                  <a:pt x="0" y="0"/>
                </a:moveTo>
                <a:lnTo>
                  <a:pt x="8046720" y="0"/>
                </a:lnTo>
                <a:lnTo>
                  <a:pt x="8046720" y="1508760"/>
                </a:lnTo>
                <a:lnTo>
                  <a:pt x="0" y="1508760"/>
                </a:lnTo>
                <a:close/>
              </a:path>
            </a:pathLst>
          </a:custGeom>
          <a:solidFill>
            <a:srgbClr val="FEF3C7"/>
          </a:solidFill>
          <a:ln/>
        </p:spPr>
      </p:sp>
      <p:sp>
        <p:nvSpPr>
          <p:cNvPr id="8" name="Text 5"/>
          <p:cNvSpPr/>
          <p:nvPr/>
        </p:nvSpPr>
        <p:spPr>
          <a:xfrm>
            <a:off x="731520" y="3264408"/>
            <a:ext cx="7680960" cy="129844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78350F"/>
                </a:solidFill>
                <a:latin typeface="Microsoft YaHei" pitchFamily="34" charset="0"/>
                <a:ea typeface="Microsoft YaHei" pitchFamily="34" charset="-122"/>
                <a:cs typeface="Microsoft YaHei" pitchFamily="34" charset="-120"/>
              </a:rPr>
              <a:t>Next Steps</a:t>
            </a:r>
            <a:endParaRPr lang="en-US" sz="1152" dirty="0"/>
          </a:p>
          <a:p>
            <a:pPr indent="0" marL="0">
              <a:lnSpc>
                <a:spcPct val="120000"/>
              </a:lnSpc>
              <a:spcBef>
                <a:spcPts val="360"/>
              </a:spcBef>
              <a:buNone/>
            </a:pPr>
            <a:r>
              <a:rPr lang="en-US" sz="1152" b="1" dirty="0">
                <a:solidFill>
                  <a:srgbClr val="78350F"/>
                </a:solidFill>
                <a:latin typeface="Microsoft YaHei" pitchFamily="34" charset="0"/>
                <a:ea typeface="Microsoft YaHei" pitchFamily="34" charset="-122"/>
                <a:cs typeface="Microsoft YaHei" pitchFamily="34" charset="-120"/>
              </a:rPr>
              <a:t>Advanced Topics to Explore:</a:t>
            </a:r>
            <a:pPr indent="0" marL="0">
              <a:lnSpc>
                <a:spcPct val="120000"/>
              </a:lnSpc>
              <a:spcBef>
                <a:spcPts val="360"/>
              </a:spcBef>
              <a:buNone/>
            </a:pPr>
            <a:r>
              <a:rPr lang="en-US" sz="1152" dirty="0">
                <a:solidFill>
                  <a:srgbClr val="78350F"/>
                </a:solidFill>
                <a:latin typeface="Microsoft YaHei" pitchFamily="34" charset="0"/>
                <a:ea typeface="Microsoft YaHei" pitchFamily="34" charset="-122"/>
                <a:cs typeface="Microsoft YaHei" pitchFamily="34" charset="-120"/>
              </a:rPr>
              <a:t> Options, CFDs, International markets, SMSF investing</a:t>
            </a:r>
            <a:endParaRPr lang="en-US" sz="1152" dirty="0"/>
          </a:p>
          <a:p>
            <a:pPr indent="0" marL="0">
              <a:lnSpc>
                <a:spcPct val="120000"/>
              </a:lnSpc>
              <a:spcBef>
                <a:spcPts val="360"/>
              </a:spcBef>
              <a:buNone/>
            </a:pPr>
            <a:r>
              <a:rPr lang="en-US" sz="1152" b="1" dirty="0">
                <a:solidFill>
                  <a:srgbClr val="78350F"/>
                </a:solidFill>
                <a:latin typeface="Microsoft YaHei" pitchFamily="34" charset="0"/>
                <a:ea typeface="Microsoft YaHei" pitchFamily="34" charset="-122"/>
                <a:cs typeface="Microsoft YaHei" pitchFamily="34" charset="-120"/>
              </a:rPr>
              <a:t>Final Reminder:</a:t>
            </a:r>
            <a:pPr indent="0" marL="0">
              <a:lnSpc>
                <a:spcPct val="120000"/>
              </a:lnSpc>
              <a:spcBef>
                <a:spcPts val="360"/>
              </a:spcBef>
              <a:buNone/>
            </a:pPr>
            <a:r>
              <a:rPr lang="en-US" sz="1152" dirty="0">
                <a:solidFill>
                  <a:srgbClr val="78350F"/>
                </a:solidFill>
                <a:latin typeface="Microsoft YaHei" pitchFamily="34" charset="0"/>
                <a:ea typeface="Microsoft YaHei" pitchFamily="34" charset="-122"/>
                <a:cs typeface="Microsoft YaHei" pitchFamily="34" charset="-120"/>
              </a:rPr>
              <a:t> Start small, stay diversified, think long-term, keep learning</a:t>
            </a:r>
            <a:endParaRPr lang="en-US" sz="1152" dirty="0"/>
          </a:p>
          <a:p>
            <a:pPr indent="0" marL="0">
              <a:lnSpc>
                <a:spcPct val="120000"/>
              </a:lnSpc>
              <a:spcBef>
                <a:spcPts val="360"/>
              </a:spcBef>
              <a:buNone/>
            </a:pPr>
            <a:r>
              <a:rPr lang="en-US" sz="1152" b="1" dirty="0">
                <a:solidFill>
                  <a:srgbClr val="78350F"/>
                </a:solidFill>
                <a:latin typeface="Microsoft YaHei" pitchFamily="34" charset="0"/>
                <a:ea typeface="Microsoft YaHei" pitchFamily="34" charset="-122"/>
                <a:cs typeface="Microsoft YaHei" pitchFamily="34" charset="-120"/>
              </a:rPr>
              <a:t>Course Complete:</a:t>
            </a:r>
            <a:pPr indent="0" marL="0">
              <a:lnSpc>
                <a:spcPct val="120000"/>
              </a:lnSpc>
              <a:spcBef>
                <a:spcPts val="360"/>
              </a:spcBef>
              <a:buNone/>
            </a:pPr>
            <a:r>
              <a:rPr lang="en-US" sz="1152" dirty="0">
                <a:solidFill>
                  <a:srgbClr val="78350F"/>
                </a:solidFill>
                <a:latin typeface="Microsoft YaHei" pitchFamily="34" charset="0"/>
                <a:ea typeface="Microsoft YaHei" pitchFamily="34" charset="-122"/>
                <a:cs typeface="Microsoft YaHei" pitchFamily="34" charset="-120"/>
              </a:rPr>
              <a:t> Congratulations on finishing the course!</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2026-09-03T21:41:24Z</dcterms:created>
  <dcterms:modified xsi:type="dcterms:W3CDTF">2026-09-03T21:41:24Z</dcterms:modified>
</cp:coreProperties>
</file>